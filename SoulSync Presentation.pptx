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70" r:id="rId12"/>
    <p:sldId id="264" r:id="rId13"/>
    <p:sldId id="265" r:id="rId14"/>
    <p:sldId id="271" r:id="rId1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2810"/>
            <a:ext cx="83745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FAF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FAF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1934" y="359750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9" y="0"/>
                </a:lnTo>
              </a:path>
            </a:pathLst>
          </a:custGeom>
          <a:ln w="28574">
            <a:solidFill>
              <a:srgbClr val="26A6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FAF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725" y="2372795"/>
            <a:ext cx="797254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FAF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9234" y="2106222"/>
            <a:ext cx="7885531" cy="1755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ithub.com/VidhiRameshParakhiya/CS639-Team-4/blob/main/README.md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ithub.com/VidhiRameshParakhiya/CS639-Team-4/blob/main/README.md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11899"/>
            <a:ext cx="9144000" cy="3432175"/>
          </a:xfrm>
          <a:custGeom>
            <a:avLst/>
            <a:gdLst/>
            <a:ahLst/>
            <a:cxnLst/>
            <a:rect l="l" t="t" r="r" b="b"/>
            <a:pathLst>
              <a:path w="9144000" h="3432175">
                <a:moveTo>
                  <a:pt x="0" y="3431599"/>
                </a:moveTo>
                <a:lnTo>
                  <a:pt x="9143999" y="3431599"/>
                </a:lnTo>
                <a:lnTo>
                  <a:pt x="9143999" y="0"/>
                </a:lnTo>
                <a:lnTo>
                  <a:pt x="0" y="0"/>
                </a:lnTo>
                <a:lnTo>
                  <a:pt x="0" y="3431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</a:t>
            </a:r>
            <a:r>
              <a:rPr lang="en-IN" dirty="0">
                <a:solidFill>
                  <a:schemeClr val="bg1"/>
                </a:solidFill>
              </a:rPr>
              <a:t>Yash Panchani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Vidhi </a:t>
            </a:r>
            <a:r>
              <a:rPr lang="en-IN" dirty="0" err="1">
                <a:solidFill>
                  <a:schemeClr val="bg1"/>
                </a:solidFill>
              </a:rPr>
              <a:t>Parekhiya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     </a:t>
            </a:r>
            <a:r>
              <a:rPr lang="en-IN" dirty="0" err="1">
                <a:solidFill>
                  <a:schemeClr val="bg1"/>
                </a:solidFill>
              </a:rPr>
              <a:t>Moldir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Nurmakhan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99"/>
            <a:ext cx="9144000" cy="1711960"/>
          </a:xfrm>
          <a:custGeom>
            <a:avLst/>
            <a:gdLst/>
            <a:ahLst/>
            <a:cxnLst/>
            <a:rect l="l" t="t" r="r" b="b"/>
            <a:pathLst>
              <a:path w="9144000" h="1711960">
                <a:moveTo>
                  <a:pt x="9143999" y="1711799"/>
                </a:moveTo>
                <a:lnTo>
                  <a:pt x="0" y="1711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711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 lang="en-IN" dirty="0"/>
          </a:p>
        </p:txBody>
      </p:sp>
      <p:sp>
        <p:nvSpPr>
          <p:cNvPr id="4" name="object 4"/>
          <p:cNvSpPr/>
          <p:nvPr/>
        </p:nvSpPr>
        <p:spPr>
          <a:xfrm>
            <a:off x="641934" y="359750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9" y="0"/>
                </a:lnTo>
              </a:path>
            </a:pathLst>
          </a:custGeom>
          <a:ln w="28574">
            <a:solidFill>
              <a:srgbClr val="FFFA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7974" y="1885950"/>
            <a:ext cx="9574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4215" y="361950"/>
            <a:ext cx="495998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185" dirty="0">
                <a:solidFill>
                  <a:srgbClr val="FFFAF0"/>
                </a:solidFill>
                <a:latin typeface="Calibri"/>
                <a:cs typeface="Calibri"/>
              </a:rPr>
              <a:t>Soul</a:t>
            </a:r>
            <a:r>
              <a:rPr sz="4200" spc="204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4200" spc="175" dirty="0">
                <a:solidFill>
                  <a:srgbClr val="FFFAF0"/>
                </a:solidFill>
                <a:latin typeface="Calibri"/>
                <a:cs typeface="Calibri"/>
              </a:rPr>
              <a:t>Sync-</a:t>
            </a:r>
            <a:r>
              <a:rPr sz="3200" i="1" spc="175" dirty="0">
                <a:solidFill>
                  <a:srgbClr val="FFFAF0"/>
                </a:solidFill>
                <a:latin typeface="Calibri"/>
                <a:cs typeface="Calibri"/>
              </a:rPr>
              <a:t>Wellness</a:t>
            </a:r>
            <a:r>
              <a:rPr sz="3200" i="1" spc="1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3200" i="1" spc="210" dirty="0">
                <a:solidFill>
                  <a:srgbClr val="FFFAF0"/>
                </a:solidFill>
                <a:latin typeface="Calibri"/>
                <a:cs typeface="Calibri"/>
              </a:rPr>
              <a:t>App</a:t>
            </a:r>
            <a:endParaRPr lang="en-IN" sz="3200" i="1" spc="210" dirty="0">
              <a:solidFill>
                <a:srgbClr val="FFFAF0"/>
              </a:solidFill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r>
              <a:rPr lang="en-IN" sz="1600" spc="95" dirty="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lang="en-IN" sz="16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30" dirty="0">
                <a:solidFill>
                  <a:srgbClr val="FFFFFF"/>
                </a:solidFill>
                <a:latin typeface="Calibri"/>
                <a:cs typeface="Calibri"/>
              </a:rPr>
              <a:t>partner</a:t>
            </a:r>
            <a:r>
              <a:rPr lang="en-IN" sz="1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3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lang="en-IN" sz="1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25" dirty="0">
                <a:solidFill>
                  <a:srgbClr val="FFFFFF"/>
                </a:solidFill>
                <a:latin typeface="Calibri"/>
                <a:cs typeface="Calibri"/>
              </a:rPr>
              <a:t>wellness</a:t>
            </a:r>
            <a:endParaRPr lang="en-IN"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725" y="3681328"/>
            <a:ext cx="272986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1800" u="heavy" spc="18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Calibri"/>
                <a:cs typeface="Calibri"/>
                <a:hlinkClick r:id="rId2"/>
              </a:rPr>
              <a:t>README.md</a:t>
            </a:r>
            <a:endParaRPr lang="en-IN" sz="1800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800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9475" y="2294300"/>
            <a:ext cx="2033374" cy="1889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8E5B2C-7EC6-EDAC-376B-C6F1A201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CAB42A-9332-AEAF-8F9A-6C4BC203B11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9E82BA2-3B57-B861-1278-20D14D2C8A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502810"/>
            <a:ext cx="3404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000" spc="85" dirty="0">
                <a:solidFill>
                  <a:srgbClr val="000000"/>
                </a:solidFill>
              </a:rPr>
              <a:t>Technology Used</a:t>
            </a:r>
            <a:endParaRPr sz="3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DB675A1-D7DA-BD23-3681-3498B495D5C8}"/>
              </a:ext>
            </a:extLst>
          </p:cNvPr>
          <p:cNvSpPr txBox="1"/>
          <p:nvPr/>
        </p:nvSpPr>
        <p:spPr>
          <a:xfrm>
            <a:off x="490621" y="1204187"/>
            <a:ext cx="3547979" cy="5764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marR="0" lvl="0" indent="-35179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63855" algn="l"/>
                <a:tab pos="364490" algn="l"/>
              </a:tabLst>
              <a:defRPr/>
            </a:pPr>
            <a:r>
              <a:rPr kumimoji="0" lang="en-IN" sz="16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Programming Language: Kotlin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63855" marR="0" lvl="0" indent="-35179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63855" algn="l"/>
                <a:tab pos="364490" algn="l"/>
              </a:tabLst>
              <a:defRPr/>
            </a:pPr>
            <a:r>
              <a:rPr lang="en-IN" sz="1600" dirty="0">
                <a:solidFill>
                  <a:prstClr val="black"/>
                </a:solidFill>
                <a:latin typeface="Calibri"/>
                <a:cs typeface="Calibri"/>
              </a:rPr>
              <a:t>UI Framework: Jetpack Compose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982FA85-C56C-3118-D5F3-654347ADBA05}"/>
              </a:ext>
            </a:extLst>
          </p:cNvPr>
          <p:cNvSpPr txBox="1"/>
          <p:nvPr/>
        </p:nvSpPr>
        <p:spPr>
          <a:xfrm>
            <a:off x="490621" y="2604910"/>
            <a:ext cx="3547979" cy="77393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065" marR="0" lvl="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tabLst>
                <a:tab pos="363855" algn="l"/>
                <a:tab pos="364490" algn="l"/>
              </a:tabLst>
              <a:defRPr/>
            </a:pPr>
            <a:r>
              <a:rPr kumimoji="0" lang="en-IN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</a:t>
            </a:r>
          </a:p>
          <a:p>
            <a:pPr marL="363855" marR="0" lvl="0" indent="-35179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63855" algn="l"/>
                <a:tab pos="364490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Android Device </a:t>
            </a:r>
          </a:p>
        </p:txBody>
      </p:sp>
    </p:spTree>
    <p:extLst>
      <p:ext uri="{BB962C8B-B14F-4D97-AF65-F5344CB8AC3E}">
        <p14:creationId xmlns:p14="http://schemas.microsoft.com/office/powerpoint/2010/main" val="81433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275" y="0"/>
            <a:ext cx="4188460" cy="1667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229"/>
              </a:spcBef>
            </a:pPr>
            <a:r>
              <a:rPr sz="5400" spc="155" dirty="0"/>
              <a:t>Description</a:t>
            </a:r>
            <a:r>
              <a:rPr sz="5400" spc="195" dirty="0"/>
              <a:t> </a:t>
            </a:r>
            <a:r>
              <a:rPr sz="5400" spc="-20" dirty="0"/>
              <a:t>of </a:t>
            </a:r>
            <a:r>
              <a:rPr sz="5400" spc="-1210" dirty="0"/>
              <a:t> </a:t>
            </a:r>
            <a:r>
              <a:rPr sz="5400" spc="135" dirty="0"/>
              <a:t>Problem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404824" y="1685425"/>
            <a:ext cx="7237095" cy="32937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240" rIns="0" bIns="0" rtlCol="0">
            <a:spAutoFit/>
          </a:bodyPr>
          <a:lstStyle/>
          <a:p>
            <a:pPr marL="542925" marR="170815" indent="-336550">
              <a:lnSpc>
                <a:spcPct val="200900"/>
              </a:lnSpc>
              <a:spcBef>
                <a:spcPts val="120"/>
              </a:spcBef>
              <a:buChar char="●"/>
              <a:tabLst>
                <a:tab pos="542290" algn="l"/>
                <a:tab pos="542925" algn="l"/>
              </a:tabLst>
            </a:pPr>
            <a:r>
              <a:rPr sz="1400" dirty="0">
                <a:latin typeface="Arial MT"/>
                <a:cs typeface="Arial MT"/>
              </a:rPr>
              <a:t>Many </a:t>
            </a:r>
            <a:r>
              <a:rPr sz="1400" spc="-5" dirty="0">
                <a:latin typeface="Arial MT"/>
                <a:cs typeface="Arial MT"/>
              </a:rPr>
              <a:t>individuals </a:t>
            </a:r>
            <a:r>
              <a:rPr sz="1400" dirty="0">
                <a:latin typeface="Arial MT"/>
                <a:cs typeface="Arial MT"/>
              </a:rPr>
              <a:t>struggle </a:t>
            </a:r>
            <a:r>
              <a:rPr sz="1400" spc="-5" dirty="0">
                <a:latin typeface="Arial MT"/>
                <a:cs typeface="Arial MT"/>
              </a:rPr>
              <a:t>to </a:t>
            </a:r>
            <a:r>
              <a:rPr sz="1400" dirty="0">
                <a:latin typeface="Arial MT"/>
                <a:cs typeface="Arial MT"/>
              </a:rPr>
              <a:t>manage </a:t>
            </a:r>
            <a:r>
              <a:rPr sz="1400" spc="-5" dirty="0">
                <a:latin typeface="Arial MT"/>
                <a:cs typeface="Arial MT"/>
              </a:rPr>
              <a:t>their emotions and </a:t>
            </a:r>
            <a:r>
              <a:rPr sz="1400" dirty="0">
                <a:latin typeface="Arial MT"/>
                <a:cs typeface="Arial MT"/>
              </a:rPr>
              <a:t>cope </a:t>
            </a:r>
            <a:r>
              <a:rPr sz="1400" spc="-5" dirty="0">
                <a:latin typeface="Arial MT"/>
                <a:cs typeface="Arial MT"/>
              </a:rPr>
              <a:t>with feelings </a:t>
            </a:r>
            <a:r>
              <a:rPr sz="1400" dirty="0">
                <a:latin typeface="Arial MT"/>
                <a:cs typeface="Arial MT"/>
              </a:rPr>
              <a:t>such </a:t>
            </a:r>
            <a:r>
              <a:rPr sz="1400" spc="-5" dirty="0">
                <a:latin typeface="Arial MT"/>
                <a:cs typeface="Arial MT"/>
              </a:rPr>
              <a:t>as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anxiety,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sadness,</a:t>
            </a:r>
            <a:r>
              <a:rPr sz="1400" spc="-5" dirty="0">
                <a:latin typeface="Arial MT"/>
                <a:cs typeface="Arial MT"/>
              </a:rPr>
              <a:t> and depression.</a:t>
            </a:r>
            <a:endParaRPr sz="1400">
              <a:latin typeface="Arial MT"/>
              <a:cs typeface="Arial MT"/>
            </a:endParaRPr>
          </a:p>
          <a:p>
            <a:pPr marL="542925" marR="92710" indent="-336550">
              <a:lnSpc>
                <a:spcPct val="200900"/>
              </a:lnSpc>
              <a:buFont typeface="Arial MT"/>
              <a:buChar char="●"/>
              <a:tabLst>
                <a:tab pos="588645" algn="l"/>
                <a:tab pos="589280" algn="l"/>
              </a:tabLst>
            </a:pPr>
            <a:r>
              <a:rPr dirty="0"/>
              <a:t>	</a:t>
            </a:r>
            <a:r>
              <a:rPr sz="1400" spc="-5" dirty="0">
                <a:latin typeface="Arial MT"/>
                <a:cs typeface="Arial MT"/>
              </a:rPr>
              <a:t>These emotional </a:t>
            </a:r>
            <a:r>
              <a:rPr sz="1400" dirty="0">
                <a:latin typeface="Arial MT"/>
                <a:cs typeface="Arial MT"/>
              </a:rPr>
              <a:t>challenges can </a:t>
            </a:r>
            <a:r>
              <a:rPr sz="1400" spc="-5" dirty="0">
                <a:latin typeface="Arial MT"/>
                <a:cs typeface="Arial MT"/>
              </a:rPr>
              <a:t>adversely impact </a:t>
            </a:r>
            <a:r>
              <a:rPr sz="1400" dirty="0">
                <a:latin typeface="Arial MT"/>
                <a:cs typeface="Arial MT"/>
              </a:rPr>
              <a:t>relationships, </a:t>
            </a:r>
            <a:r>
              <a:rPr sz="1400" spc="-5" dirty="0">
                <a:latin typeface="Arial MT"/>
                <a:cs typeface="Arial MT"/>
              </a:rPr>
              <a:t>work performance,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overall quality of life.</a:t>
            </a:r>
            <a:endParaRPr sz="1400">
              <a:latin typeface="Arial MT"/>
              <a:cs typeface="Arial MT"/>
            </a:endParaRPr>
          </a:p>
          <a:p>
            <a:pPr marL="542925" marR="134620" indent="-336550">
              <a:lnSpc>
                <a:spcPct val="200900"/>
              </a:lnSpc>
              <a:buChar char="●"/>
              <a:tabLst>
                <a:tab pos="542290" algn="l"/>
                <a:tab pos="542925" algn="l"/>
              </a:tabLst>
            </a:pPr>
            <a:r>
              <a:rPr sz="1400" spc="-5" dirty="0">
                <a:latin typeface="Arial MT"/>
                <a:cs typeface="Arial MT"/>
              </a:rPr>
              <a:t>SoulSync aims to address this problem by providing </a:t>
            </a:r>
            <a:r>
              <a:rPr sz="1400" dirty="0">
                <a:latin typeface="Arial MT"/>
                <a:cs typeface="Arial MT"/>
              </a:rPr>
              <a:t>a solution </a:t>
            </a:r>
            <a:r>
              <a:rPr sz="1400" spc="-5" dirty="0">
                <a:latin typeface="Arial MT"/>
                <a:cs typeface="Arial MT"/>
              </a:rPr>
              <a:t>to track, understand,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improve emotional health.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950" y="215244"/>
            <a:ext cx="69881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Competitive</a:t>
            </a:r>
            <a:r>
              <a:rPr spc="280" dirty="0"/>
              <a:t> </a:t>
            </a:r>
            <a:r>
              <a:rPr spc="34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234" y="2106222"/>
            <a:ext cx="5170170" cy="17551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9255" marR="10795" indent="-351790">
              <a:lnSpc>
                <a:spcPct val="101600"/>
              </a:lnSpc>
              <a:spcBef>
                <a:spcPts val="70"/>
              </a:spcBef>
              <a:buChar char="●"/>
              <a:tabLst>
                <a:tab pos="389255" algn="l"/>
                <a:tab pos="389890" algn="l"/>
              </a:tabLst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The demand for digital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mental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health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solutions </a:t>
            </a: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continues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rise,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among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younger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tenagers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seek </a:t>
            </a:r>
            <a:r>
              <a:rPr sz="1600" spc="-4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accessible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stress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anxiety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management.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Arial MT"/>
              <a:buChar char="●"/>
            </a:pPr>
            <a:endParaRPr sz="1700" dirty="0">
              <a:latin typeface="Arial MT"/>
              <a:cs typeface="Arial MT"/>
            </a:endParaRPr>
          </a:p>
          <a:p>
            <a:pPr marL="389255" indent="-35242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89255" algn="l"/>
                <a:tab pos="389890" algn="l"/>
              </a:tabLst>
            </a:pP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BetterHelp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App-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online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therapy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offering</a:t>
            </a:r>
            <a:r>
              <a:rPr lang="en-IN"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600" spc="-5" dirty="0">
                <a:solidFill>
                  <a:srgbClr val="FFFFFF"/>
                </a:solidFill>
                <a:latin typeface="Arial MT"/>
                <a:cs typeface="Arial MT"/>
              </a:rPr>
              <a:t>access to licensed therapists through text, </a:t>
            </a:r>
            <a:r>
              <a:rPr lang="en-US" sz="1600" dirty="0">
                <a:solidFill>
                  <a:srgbClr val="FFFFFF"/>
                </a:solidFill>
                <a:latin typeface="Arial MT"/>
                <a:cs typeface="Arial MT"/>
              </a:rPr>
              <a:t>video, </a:t>
            </a:r>
            <a:r>
              <a:rPr lang="en-US" sz="1600" spc="-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lang="en-US" sz="1600" spc="-4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lang="en-US"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Arial MT"/>
                <a:cs typeface="Arial MT"/>
              </a:rPr>
              <a:t>calls.</a:t>
            </a:r>
            <a:endParaRPr lang="en-US"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2810"/>
            <a:ext cx="3404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85" dirty="0">
                <a:solidFill>
                  <a:srgbClr val="000000"/>
                </a:solidFill>
              </a:rPr>
              <a:t>Description</a:t>
            </a:r>
            <a:r>
              <a:rPr sz="3000" spc="12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of</a:t>
            </a:r>
            <a:r>
              <a:rPr sz="3000" spc="130" dirty="0">
                <a:solidFill>
                  <a:srgbClr val="000000"/>
                </a:solidFill>
              </a:rPr>
              <a:t> </a:t>
            </a:r>
            <a:r>
              <a:rPr sz="3000" spc="145" dirty="0">
                <a:solidFill>
                  <a:srgbClr val="000000"/>
                </a:solidFill>
              </a:rPr>
              <a:t>Users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90621" y="1204187"/>
            <a:ext cx="2263775" cy="11303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40" dirty="0">
                <a:latin typeface="Calibri"/>
                <a:cs typeface="Calibri"/>
              </a:rPr>
              <a:t>College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35" dirty="0">
                <a:latin typeface="Calibri"/>
                <a:cs typeface="Calibri"/>
              </a:rPr>
              <a:t>Student</a:t>
            </a:r>
            <a:endParaRPr sz="160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75" dirty="0">
                <a:latin typeface="Calibri"/>
                <a:cs typeface="Calibri"/>
              </a:rPr>
              <a:t>New</a:t>
            </a:r>
            <a:r>
              <a:rPr sz="1600" spc="50" dirty="0">
                <a:latin typeface="Calibri"/>
                <a:cs typeface="Calibri"/>
              </a:rPr>
              <a:t> Parents</a:t>
            </a:r>
            <a:endParaRPr sz="160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75" dirty="0">
                <a:latin typeface="Calibri"/>
                <a:cs typeface="Calibri"/>
              </a:rPr>
              <a:t>Self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Improvement</a:t>
            </a:r>
            <a:endParaRPr sz="160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45" dirty="0">
                <a:latin typeface="Calibri"/>
                <a:cs typeface="Calibri"/>
              </a:rPr>
              <a:t>Stressed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45" dirty="0">
                <a:latin typeface="Calibri"/>
                <a:cs typeface="Calibri"/>
              </a:rPr>
              <a:t>Professional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5143500"/>
            <a:chOff x="4572000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686435" cy="0"/>
            </a:xfrm>
            <a:custGeom>
              <a:avLst/>
              <a:gdLst/>
              <a:ahLst/>
              <a:cxnLst/>
              <a:rect l="l" t="t" r="r" b="b"/>
              <a:pathLst>
                <a:path w="686435">
                  <a:moveTo>
                    <a:pt x="0" y="0"/>
                  </a:moveTo>
                  <a:lnTo>
                    <a:pt x="686399" y="0"/>
                  </a:lnTo>
                </a:path>
              </a:pathLst>
            </a:custGeom>
            <a:ln w="19049">
              <a:solidFill>
                <a:srgbClr val="26A6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76341" y="1957614"/>
            <a:ext cx="20243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605" dirty="0">
                <a:solidFill>
                  <a:srgbClr val="26A69A"/>
                </a:solidFill>
                <a:latin typeface="Calibri"/>
                <a:cs typeface="Calibri"/>
              </a:rPr>
              <a:t>F</a:t>
            </a:r>
            <a:r>
              <a:rPr sz="4200" spc="40" dirty="0">
                <a:solidFill>
                  <a:srgbClr val="26A69A"/>
                </a:solidFill>
                <a:latin typeface="Calibri"/>
                <a:cs typeface="Calibri"/>
              </a:rPr>
              <a:t>eatures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3050" y="1264030"/>
            <a:ext cx="292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FFFAF0"/>
                </a:solidFill>
                <a:latin typeface="Calibri"/>
                <a:cs typeface="Calibri"/>
              </a:rPr>
              <a:t>Emotional</a:t>
            </a:r>
            <a:r>
              <a:rPr sz="1800" spc="8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Based</a:t>
            </a:r>
            <a:r>
              <a:rPr sz="1800" spc="8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0" dirty="0">
                <a:solidFill>
                  <a:srgbClr val="FFFAF0"/>
                </a:solidFill>
                <a:latin typeface="Calibri"/>
                <a:cs typeface="Calibri"/>
              </a:rPr>
              <a:t>Activity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3050" y="1778380"/>
            <a:ext cx="1781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FFFAF0"/>
                </a:solidFill>
                <a:latin typeface="Calibri"/>
                <a:cs typeface="Calibri"/>
              </a:rPr>
              <a:t>Mood</a:t>
            </a:r>
            <a:r>
              <a:rPr sz="1800" spc="4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0" dirty="0">
                <a:solidFill>
                  <a:srgbClr val="FFFAF0"/>
                </a:solidFill>
                <a:latin typeface="Calibri"/>
                <a:cs typeface="Calibri"/>
              </a:rPr>
              <a:t>Tracker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3050" y="2292730"/>
            <a:ext cx="2623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Based</a:t>
            </a:r>
            <a:r>
              <a:rPr sz="1800" spc="8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AF0"/>
                </a:solidFill>
                <a:latin typeface="Calibri"/>
                <a:cs typeface="Calibri"/>
              </a:rPr>
              <a:t>on</a:t>
            </a:r>
            <a:r>
              <a:rPr sz="1800" spc="8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AF0"/>
                </a:solidFill>
                <a:latin typeface="Calibri"/>
                <a:cs typeface="Calibri"/>
              </a:rPr>
              <a:t>mood</a:t>
            </a:r>
            <a:r>
              <a:rPr sz="1800" spc="8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AF0"/>
                </a:solidFill>
                <a:latin typeface="Calibri"/>
                <a:cs typeface="Calibri"/>
              </a:rPr>
              <a:t>Quotes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3050" y="2807080"/>
            <a:ext cx="311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FFFAF0"/>
                </a:solidFill>
                <a:latin typeface="Calibri"/>
                <a:cs typeface="Calibri"/>
              </a:rPr>
              <a:t>Feed</a:t>
            </a:r>
            <a:r>
              <a:rPr sz="1800" spc="8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85" dirty="0">
                <a:solidFill>
                  <a:srgbClr val="FFFAF0"/>
                </a:solidFill>
                <a:latin typeface="Calibri"/>
                <a:cs typeface="Calibri"/>
              </a:rPr>
              <a:t>(Future </a:t>
            </a:r>
            <a:r>
              <a:rPr sz="1800" spc="5" dirty="0">
                <a:solidFill>
                  <a:srgbClr val="FFFAF0"/>
                </a:solidFill>
                <a:latin typeface="Calibri"/>
                <a:cs typeface="Calibri"/>
              </a:rPr>
              <a:t>enhancement)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725" y="2372795"/>
            <a:ext cx="60102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Design</a:t>
            </a:r>
            <a:r>
              <a:rPr spc="270" dirty="0"/>
              <a:t> </a:t>
            </a:r>
            <a:r>
              <a:rPr spc="310" dirty="0"/>
              <a:t>Highlights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742950"/>
            <a:ext cx="2916555" cy="411587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355"/>
              </a:spcBef>
              <a:tabLst>
                <a:tab pos="363855" algn="l"/>
                <a:tab pos="364490" algn="l"/>
              </a:tabLst>
            </a:pPr>
            <a:endParaRPr lang="en-IN" sz="1600" spc="7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355"/>
              </a:spcBef>
              <a:tabLst>
                <a:tab pos="363855" algn="l"/>
                <a:tab pos="364490" algn="l"/>
              </a:tabLst>
            </a:pPr>
            <a:r>
              <a:rPr lang="en-IN" sz="2000" b="1" u="sng" spc="70" dirty="0">
                <a:latin typeface="Calibri"/>
                <a:cs typeface="Calibri"/>
              </a:rPr>
              <a:t>Implemented Features</a:t>
            </a:r>
          </a:p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+mj-lt"/>
              <a:buAutoNum type="arabicPeriod"/>
              <a:tabLst>
                <a:tab pos="363855" algn="l"/>
                <a:tab pos="364490" algn="l"/>
              </a:tabLst>
            </a:pPr>
            <a:r>
              <a:rPr lang="en-IN" spc="70" dirty="0">
                <a:latin typeface="Calibri"/>
                <a:cs typeface="Calibri"/>
              </a:rPr>
              <a:t>Functional Navigations:</a:t>
            </a:r>
          </a:p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70" dirty="0">
                <a:latin typeface="Calibri"/>
                <a:cs typeface="Calibri"/>
              </a:rPr>
              <a:t>Splash</a:t>
            </a:r>
            <a:r>
              <a:rPr sz="1600" spc="45" dirty="0">
                <a:latin typeface="Calibri"/>
                <a:cs typeface="Calibri"/>
              </a:rPr>
              <a:t> Screen</a:t>
            </a:r>
            <a:endParaRPr sz="1600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80" dirty="0">
                <a:latin typeface="Calibri"/>
                <a:cs typeface="Calibri"/>
              </a:rPr>
              <a:t>Login/Register</a:t>
            </a:r>
            <a:endParaRPr sz="1600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35" dirty="0">
                <a:latin typeface="Calibri"/>
                <a:cs typeface="Calibri"/>
              </a:rPr>
              <a:t>Home</a:t>
            </a:r>
            <a:r>
              <a:rPr sz="1600" spc="45" dirty="0">
                <a:latin typeface="Calibri"/>
                <a:cs typeface="Calibri"/>
              </a:rPr>
              <a:t> Screen</a:t>
            </a:r>
            <a:endParaRPr lang="en-IN" sz="1600" spc="45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endParaRPr lang="en-IN" sz="1600" spc="45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254"/>
              </a:spcBef>
              <a:tabLst>
                <a:tab pos="363855" algn="l"/>
                <a:tab pos="364490" algn="l"/>
              </a:tabLst>
            </a:pPr>
            <a:r>
              <a:rPr lang="en-IN" spc="45" dirty="0">
                <a:latin typeface="Calibri"/>
                <a:cs typeface="Calibri"/>
              </a:rPr>
              <a:t>2.	Button Navigations:</a:t>
            </a:r>
            <a:endParaRPr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35" dirty="0">
                <a:latin typeface="Calibri"/>
                <a:cs typeface="Calibri"/>
              </a:rPr>
              <a:t>Mood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30" dirty="0">
                <a:latin typeface="Calibri"/>
                <a:cs typeface="Calibri"/>
              </a:rPr>
              <a:t>Selection</a:t>
            </a:r>
            <a:endParaRPr sz="1600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35" dirty="0">
                <a:latin typeface="Calibri"/>
                <a:cs typeface="Calibri"/>
              </a:rPr>
              <a:t>Mood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90" dirty="0">
                <a:latin typeface="Calibri"/>
                <a:cs typeface="Calibri"/>
              </a:rPr>
              <a:t>Tracker</a:t>
            </a:r>
            <a:endParaRPr lang="en-IN" sz="1600" spc="90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IN" sz="1600" spc="90" dirty="0">
                <a:latin typeface="Calibri"/>
                <a:cs typeface="Calibri"/>
              </a:rPr>
              <a:t>Notes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IN" sz="1600" spc="90" dirty="0">
                <a:latin typeface="Calibri"/>
                <a:cs typeface="Calibri"/>
              </a:rPr>
              <a:t>Tips</a:t>
            </a:r>
            <a:endParaRPr sz="1600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25" dirty="0">
                <a:latin typeface="Calibri"/>
                <a:cs typeface="Calibri"/>
              </a:rPr>
              <a:t>Feed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with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videos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and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35" dirty="0">
                <a:latin typeface="Calibri"/>
                <a:cs typeface="Calibri"/>
              </a:rPr>
              <a:t>articles</a:t>
            </a:r>
            <a:r>
              <a:rPr lang="en-IN" sz="1600" spc="35" dirty="0">
                <a:latin typeface="Calibri"/>
                <a:cs typeface="Calibri"/>
              </a:rPr>
              <a:t>(Future Update)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E5C9D-3579-E139-A997-C7384BC2C28C}"/>
              </a:ext>
            </a:extLst>
          </p:cNvPr>
          <p:cNvSpPr txBox="1"/>
          <p:nvPr/>
        </p:nvSpPr>
        <p:spPr>
          <a:xfrm>
            <a:off x="1676400" y="361950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u="sng" dirty="0"/>
              <a:t>Development Status of the </a:t>
            </a:r>
            <a:r>
              <a:rPr lang="en-IN" sz="2800" u="sng" dirty="0" err="1"/>
              <a:t>SoulSync</a:t>
            </a:r>
            <a:r>
              <a:rPr lang="en-IN" sz="2800" u="sng" dirty="0"/>
              <a:t>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B5C1D-A6ED-E328-7BFA-8982D24A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A8AD5F-9E67-BA3F-C3C6-A1AF15C7EC10}"/>
              </a:ext>
            </a:extLst>
          </p:cNvPr>
          <p:cNvSpPr txBox="1"/>
          <p:nvPr/>
        </p:nvSpPr>
        <p:spPr>
          <a:xfrm>
            <a:off x="533400" y="361950"/>
            <a:ext cx="6553200" cy="2135841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355"/>
              </a:spcBef>
              <a:tabLst>
                <a:tab pos="363855" algn="l"/>
                <a:tab pos="364490" algn="l"/>
              </a:tabLst>
            </a:pPr>
            <a:endParaRPr lang="en-IN" sz="1600" spc="7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355"/>
              </a:spcBef>
              <a:tabLst>
                <a:tab pos="363855" algn="l"/>
                <a:tab pos="364490" algn="l"/>
              </a:tabLst>
            </a:pPr>
            <a:r>
              <a:rPr lang="en-IN" sz="2000" b="1" u="sng" spc="70" dirty="0">
                <a:latin typeface="Calibri"/>
                <a:cs typeface="Calibri"/>
              </a:rPr>
              <a:t>Current Progress</a:t>
            </a:r>
            <a:r>
              <a:rPr lang="en-IN" spc="70" dirty="0">
                <a:latin typeface="Calibri"/>
                <a:cs typeface="Calibri"/>
              </a:rPr>
              <a:t>: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IN" sz="1600" spc="70" dirty="0">
                <a:latin typeface="Calibri"/>
                <a:cs typeface="Calibri"/>
              </a:rPr>
              <a:t>All the navigations and screens are working perfectly.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IN" sz="1600" spc="70" dirty="0">
                <a:latin typeface="Calibri"/>
                <a:cs typeface="Calibri"/>
              </a:rPr>
              <a:t>UI design align correctly.</a:t>
            </a:r>
            <a:endParaRPr lang="en-IN" sz="1600" spc="45" dirty="0">
              <a:latin typeface="Calibri"/>
              <a:cs typeface="Calibri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dirty="0">
                <a:latin typeface="+mj-lt"/>
              </a:rPr>
              <a:t>The app is functioning as intended.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endParaRPr lang="en-US" sz="1600" dirty="0">
              <a:latin typeface="+mj-lt"/>
            </a:endParaRPr>
          </a:p>
          <a:p>
            <a:pPr marL="354965" indent="-342900">
              <a:lnSpc>
                <a:spcPct val="100000"/>
              </a:lnSpc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363855" algn="l"/>
                <a:tab pos="364490" algn="l"/>
              </a:tabLst>
            </a:pPr>
            <a:endParaRPr lang="en-IN" sz="2000" b="1" u="sng" spc="45" dirty="0">
              <a:latin typeface="+mj-lt"/>
              <a:cs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3E9E53-49A7-D70B-34FE-BD9A7C4E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ability to create apps that make users feel real and improve their experience. 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67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197600" cy="5143500"/>
            <a:chOff x="0" y="0"/>
            <a:chExt cx="61976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123850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8200" y="109024"/>
              <a:ext cx="5998845" cy="574675"/>
            </a:xfrm>
            <a:custGeom>
              <a:avLst/>
              <a:gdLst/>
              <a:ahLst/>
              <a:cxnLst/>
              <a:rect l="l" t="t" r="r" b="b"/>
              <a:pathLst>
                <a:path w="5998845" h="574675">
                  <a:moveTo>
                    <a:pt x="5998799" y="574199"/>
                  </a:moveTo>
                  <a:lnTo>
                    <a:pt x="0" y="574199"/>
                  </a:lnTo>
                  <a:lnTo>
                    <a:pt x="0" y="0"/>
                  </a:lnTo>
                  <a:lnTo>
                    <a:pt x="5998799" y="0"/>
                  </a:lnTo>
                  <a:lnTo>
                    <a:pt x="5998799" y="574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1225" y="236168"/>
            <a:ext cx="4390390" cy="141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latin typeface="Calibri"/>
                <a:cs typeface="Calibri"/>
              </a:rPr>
              <a:t>Beneﬁts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00">
              <a:latin typeface="Calibri"/>
              <a:cs typeface="Calibri"/>
            </a:endParaRPr>
          </a:p>
          <a:p>
            <a:pPr marL="410209" indent="-367665">
              <a:lnSpc>
                <a:spcPct val="100000"/>
              </a:lnSpc>
              <a:buFont typeface="Arial MT"/>
              <a:buChar char="●"/>
              <a:tabLst>
                <a:tab pos="410209" algn="l"/>
                <a:tab pos="410845" algn="l"/>
              </a:tabLst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emotions</a:t>
            </a: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effectively.</a:t>
            </a:r>
            <a:endParaRPr sz="1800">
              <a:latin typeface="Calibri"/>
              <a:cs typeface="Calibri"/>
            </a:endParaRPr>
          </a:p>
          <a:p>
            <a:pPr marL="410209" indent="-36766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10209" algn="l"/>
                <a:tab pos="410845" algn="l"/>
              </a:tabLst>
            </a:pP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emotional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  <a:p>
            <a:pPr marL="410209" indent="-367665">
              <a:lnSpc>
                <a:spcPct val="100000"/>
              </a:lnSpc>
              <a:spcBef>
                <a:spcPts val="15"/>
              </a:spcBef>
              <a:buFont typeface="Arial MT"/>
              <a:buChar char="●"/>
              <a:tabLst>
                <a:tab pos="410209" algn="l"/>
                <a:tab pos="410845" algn="l"/>
              </a:tabLst>
            </a:pP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Acesssible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mental</a:t>
            </a:r>
            <a:r>
              <a:rPr sz="1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18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3850" y="0"/>
            <a:ext cx="4020148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647068-2D07-3D2D-B327-9462FF4C2046}"/>
              </a:ext>
            </a:extLst>
          </p:cNvPr>
          <p:cNvSpPr txBox="1"/>
          <p:nvPr/>
        </p:nvSpPr>
        <p:spPr>
          <a:xfrm>
            <a:off x="457200" y="561276"/>
            <a:ext cx="8229600" cy="379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>
              <a:spcBef>
                <a:spcPts val="254"/>
              </a:spcBef>
              <a:tabLst>
                <a:tab pos="363855" algn="l"/>
                <a:tab pos="364490" algn="l"/>
              </a:tabLst>
            </a:pPr>
            <a:r>
              <a:rPr lang="en-US" sz="2000" b="1" u="sng" spc="45" dirty="0">
                <a:latin typeface="+mj-lt"/>
                <a:cs typeface="Calibri"/>
              </a:rPr>
              <a:t>Learning Experience: </a:t>
            </a:r>
            <a:endParaRPr lang="en-US" sz="2000" dirty="0">
              <a:latin typeface="+mj-lt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Gained hands-on experience in UI development and gained an understanding of the Android system by giving equal attention to all screen details.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We faced some problems to implement complex navigation flows but we learned how to improve flawless navigation between two screen.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Improved ability to create apps that make users feel real and improve their experience.</a:t>
            </a:r>
          </a:p>
          <a:p>
            <a:pPr marL="12065">
              <a:lnSpc>
                <a:spcPct val="100000"/>
              </a:lnSpc>
              <a:spcBef>
                <a:spcPts val="254"/>
              </a:spcBef>
              <a:tabLst>
                <a:tab pos="363855" algn="l"/>
                <a:tab pos="364490" algn="l"/>
              </a:tabLst>
            </a:pPr>
            <a:endParaRPr lang="en-US" sz="1600" spc="45" dirty="0">
              <a:latin typeface="+mj-lt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254"/>
              </a:spcBef>
              <a:tabLst>
                <a:tab pos="363855" algn="l"/>
                <a:tab pos="364490" algn="l"/>
              </a:tabLst>
            </a:pPr>
            <a:r>
              <a:rPr lang="en-US" sz="2000" b="1" u="sng" spc="45" dirty="0">
                <a:latin typeface="+mj-lt"/>
                <a:cs typeface="Calibri"/>
              </a:rPr>
              <a:t>Future Work: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Use Firebase or a similar backend service to safely store and retrieve user data like, mood tracking and notes.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Add mood tracking analytics so that user can get their data as a chart.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lang="en-US" sz="1600" spc="45" dirty="0">
                <a:latin typeface="+mj-lt"/>
                <a:cs typeface="Calibri"/>
              </a:rPr>
              <a:t>Improve UI design and navigations to increase user journey.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endParaRPr lang="en-US" sz="1800" spc="45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783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699" y="220693"/>
            <a:ext cx="1210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libri"/>
                <a:cs typeface="Calibri"/>
              </a:rPr>
              <a:t>Screenshots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75" y="532750"/>
            <a:ext cx="2232699" cy="4610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8100" y="578525"/>
            <a:ext cx="2232699" cy="45649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4725" y="555637"/>
            <a:ext cx="2232699" cy="45878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2810"/>
            <a:ext cx="1811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70" dirty="0">
                <a:latin typeface="Calibri"/>
                <a:cs typeface="Calibri"/>
              </a:rPr>
              <a:t>Conclusion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95476"/>
            <a:ext cx="820039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95" dirty="0">
                <a:latin typeface="Calibri"/>
                <a:cs typeface="Calibri"/>
              </a:rPr>
              <a:t>SoulSync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makes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mindfulness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part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everyday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35" dirty="0">
                <a:latin typeface="Calibri"/>
                <a:cs typeface="Calibri"/>
              </a:rPr>
              <a:t>life,helping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user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25" dirty="0">
                <a:latin typeface="Calibri"/>
                <a:cs typeface="Calibri"/>
              </a:rPr>
              <a:t>build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15" dirty="0">
                <a:latin typeface="Calibri"/>
                <a:cs typeface="Calibri"/>
              </a:rPr>
              <a:t>healthier,more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fulﬁlling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relationship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with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emotions.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2E9E-3B36-118F-6890-0E684208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043CA1-B436-B950-64F9-56E841BA5C2D}"/>
              </a:ext>
            </a:extLst>
          </p:cNvPr>
          <p:cNvSpPr/>
          <p:nvPr/>
        </p:nvSpPr>
        <p:spPr>
          <a:xfrm>
            <a:off x="0" y="1711899"/>
            <a:ext cx="9144000" cy="3432175"/>
          </a:xfrm>
          <a:custGeom>
            <a:avLst/>
            <a:gdLst/>
            <a:ahLst/>
            <a:cxnLst/>
            <a:rect l="l" t="t" r="r" b="b"/>
            <a:pathLst>
              <a:path w="9144000" h="3432175">
                <a:moveTo>
                  <a:pt x="0" y="3431599"/>
                </a:moveTo>
                <a:lnTo>
                  <a:pt x="9143999" y="3431599"/>
                </a:lnTo>
                <a:lnTo>
                  <a:pt x="9143999" y="0"/>
                </a:lnTo>
                <a:lnTo>
                  <a:pt x="0" y="0"/>
                </a:lnTo>
                <a:lnTo>
                  <a:pt x="0" y="3431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</a:t>
            </a:r>
            <a:r>
              <a:rPr lang="en-IN" dirty="0">
                <a:solidFill>
                  <a:schemeClr val="bg1"/>
                </a:solidFill>
              </a:rPr>
              <a:t>Yash Panchani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Vidhi </a:t>
            </a:r>
            <a:r>
              <a:rPr lang="en-IN" dirty="0" err="1">
                <a:solidFill>
                  <a:schemeClr val="bg1"/>
                </a:solidFill>
              </a:rPr>
              <a:t>Parekhiya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     </a:t>
            </a:r>
            <a:r>
              <a:rPr lang="en-IN" dirty="0" err="1">
                <a:solidFill>
                  <a:schemeClr val="bg1"/>
                </a:solidFill>
              </a:rPr>
              <a:t>Moldir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Nurmakhan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0866AB-7B49-EAF9-3CB2-D56846232384}"/>
              </a:ext>
            </a:extLst>
          </p:cNvPr>
          <p:cNvSpPr/>
          <p:nvPr/>
        </p:nvSpPr>
        <p:spPr>
          <a:xfrm>
            <a:off x="0" y="99"/>
            <a:ext cx="9144000" cy="1711960"/>
          </a:xfrm>
          <a:custGeom>
            <a:avLst/>
            <a:gdLst/>
            <a:ahLst/>
            <a:cxnLst/>
            <a:rect l="l" t="t" r="r" b="b"/>
            <a:pathLst>
              <a:path w="9144000" h="1711960">
                <a:moveTo>
                  <a:pt x="9143999" y="1711799"/>
                </a:moveTo>
                <a:lnTo>
                  <a:pt x="0" y="1711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711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 lang="en-IN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ABB394-4B62-9652-9B2D-6E02E8CEEFE6}"/>
              </a:ext>
            </a:extLst>
          </p:cNvPr>
          <p:cNvSpPr/>
          <p:nvPr/>
        </p:nvSpPr>
        <p:spPr>
          <a:xfrm>
            <a:off x="641934" y="359750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9" y="0"/>
                </a:lnTo>
              </a:path>
            </a:pathLst>
          </a:custGeom>
          <a:ln w="28574">
            <a:solidFill>
              <a:srgbClr val="FFFA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5127572-587B-626F-AAE7-E2039C7CA360}"/>
              </a:ext>
            </a:extLst>
          </p:cNvPr>
          <p:cNvSpPr txBox="1"/>
          <p:nvPr/>
        </p:nvSpPr>
        <p:spPr>
          <a:xfrm>
            <a:off x="337974" y="1885950"/>
            <a:ext cx="9574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0EC7790-5DC2-5482-3386-B7A4033F9D10}"/>
              </a:ext>
            </a:extLst>
          </p:cNvPr>
          <p:cNvSpPr txBox="1"/>
          <p:nvPr/>
        </p:nvSpPr>
        <p:spPr>
          <a:xfrm>
            <a:off x="1974215" y="361950"/>
            <a:ext cx="495998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185" dirty="0">
                <a:solidFill>
                  <a:srgbClr val="FFFAF0"/>
                </a:solidFill>
                <a:latin typeface="Calibri"/>
                <a:cs typeface="Calibri"/>
              </a:rPr>
              <a:t>Soul</a:t>
            </a:r>
            <a:r>
              <a:rPr sz="4200" spc="204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4200" spc="175" dirty="0">
                <a:solidFill>
                  <a:srgbClr val="FFFAF0"/>
                </a:solidFill>
                <a:latin typeface="Calibri"/>
                <a:cs typeface="Calibri"/>
              </a:rPr>
              <a:t>Sync-</a:t>
            </a:r>
            <a:r>
              <a:rPr sz="3200" i="1" spc="175" dirty="0">
                <a:solidFill>
                  <a:srgbClr val="FFFAF0"/>
                </a:solidFill>
                <a:latin typeface="Calibri"/>
                <a:cs typeface="Calibri"/>
              </a:rPr>
              <a:t>Wellness</a:t>
            </a:r>
            <a:r>
              <a:rPr sz="3200" i="1" spc="1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3200" i="1" spc="210" dirty="0">
                <a:solidFill>
                  <a:srgbClr val="FFFAF0"/>
                </a:solidFill>
                <a:latin typeface="Calibri"/>
                <a:cs typeface="Calibri"/>
              </a:rPr>
              <a:t>App</a:t>
            </a:r>
            <a:endParaRPr lang="en-IN" sz="3200" i="1" spc="210" dirty="0">
              <a:solidFill>
                <a:srgbClr val="FFFAF0"/>
              </a:solidFill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r>
              <a:rPr lang="en-IN" sz="1600" spc="95" dirty="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lang="en-IN" sz="16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30" dirty="0">
                <a:solidFill>
                  <a:srgbClr val="FFFFFF"/>
                </a:solidFill>
                <a:latin typeface="Calibri"/>
                <a:cs typeface="Calibri"/>
              </a:rPr>
              <a:t>partner</a:t>
            </a:r>
            <a:r>
              <a:rPr lang="en-IN" sz="1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3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lang="en-IN" sz="160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600" spc="25" dirty="0">
                <a:solidFill>
                  <a:srgbClr val="FFFFFF"/>
                </a:solidFill>
                <a:latin typeface="Calibri"/>
                <a:cs typeface="Calibri"/>
              </a:rPr>
              <a:t>wellness</a:t>
            </a:r>
            <a:endParaRPr lang="en-IN"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8447DA-7D92-4378-0457-EB09D74845F8}"/>
              </a:ext>
            </a:extLst>
          </p:cNvPr>
          <p:cNvSpPr txBox="1"/>
          <p:nvPr/>
        </p:nvSpPr>
        <p:spPr>
          <a:xfrm>
            <a:off x="585725" y="3681328"/>
            <a:ext cx="272986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1800" u="heavy" spc="18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Calibri"/>
                <a:cs typeface="Calibri"/>
                <a:hlinkClick r:id="rId2"/>
              </a:rPr>
              <a:t>README.md</a:t>
            </a:r>
            <a:endParaRPr lang="en-IN" sz="1800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800" u="heavy" spc="185" dirty="0">
              <a:solidFill>
                <a:srgbClr val="AE4345"/>
              </a:solidFill>
              <a:uFill>
                <a:solidFill>
                  <a:srgbClr val="AE4345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800" dirty="0">
              <a:latin typeface="Calibri"/>
              <a:cs typeface="Calibri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D122DC04-8FAA-7BB4-4BA5-75649FA41B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9475" y="2294300"/>
            <a:ext cx="2033374" cy="188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98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417</Words>
  <Application>Microsoft Office PowerPoint</Application>
  <PresentationFormat>On-screen Show (16:9)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MT</vt:lpstr>
      <vt:lpstr>Calibri</vt:lpstr>
      <vt:lpstr>Office Theme</vt:lpstr>
      <vt:lpstr>PowerPoint Presentation</vt:lpstr>
      <vt:lpstr>Technology Used</vt:lpstr>
      <vt:lpstr>Description of  Problem</vt:lpstr>
      <vt:lpstr>Competitive Analysis</vt:lpstr>
      <vt:lpstr>Description of Users</vt:lpstr>
      <vt:lpstr>PowerPoint Presentation</vt:lpstr>
      <vt:lpstr>Design Highlights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SoulSync</dc:title>
  <dc:creator>Yash Panchani</dc:creator>
  <cp:lastModifiedBy>Yash Panchani</cp:lastModifiedBy>
  <cp:revision>5</cp:revision>
  <dcterms:created xsi:type="dcterms:W3CDTF">2024-12-12T04:00:09Z</dcterms:created>
  <dcterms:modified xsi:type="dcterms:W3CDTF">2024-12-12T05:26:25Z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